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00000000-0000-4000-8000-000000000005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000000-0000-4000-8000-000000000001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000000-0000-4000-8000-000000000002}" type="slidenum">
              <a:rPr lang="en-US"/>
              <a:t>‹#›</a:t>
            </a:fld>
            <a:endParaRPr lang="en-US"/>
          </a:p>
        </p:txBody>
      </p:sp>
    </p:spTree>
    <p:extLst>
      <p:ext uri="{00000000-0000-4000-8000-000000000003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5669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Skills &amp; Plugins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65760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the work you repeat into skills, and share them with your team as a plugin.</a:t>
            </a:r>
            <a:endParaRPr lang="en-US" sz="2200" dirty="0"/>
          </a:p>
        </p:txBody>
      </p:sp>
      <p:pic>
        <p:nvPicPr>
          <p:cNvPr id="4" name="Image 0" descr="World Wide Technolog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778606"/>
            <a:ext cx="2194560" cy="62219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554480"/>
            <a:ext cx="10725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100" kern="0" dirty="0">
                <a:solidFill>
                  <a:srgbClr val="5B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1072591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 Engineering (AINE) is WWT's discipline for integrating AI </a:t>
            </a:r>
            <a:pPr algn="l"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006D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deeply and deliberately</a:t>
            </a:r>
            <a:pPr algn="l"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across every phase of the software development lifecycle. It changes how software gets planned, designed, built, tested, secured, and operated, spanning </a:t>
            </a:r>
            <a:pPr algn="l"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platform, workflow, operating model, and services</a:t>
            </a:r>
            <a:pPr algn="l"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5257800"/>
            <a:ext cx="508406" cy="38405"/>
          </a:xfrm>
          <a:prstGeom prst="roundRect">
            <a:avLst>
              <a:gd name="adj" fmla="val 50000"/>
            </a:avLst>
          </a:prstGeom>
          <a:solidFill>
            <a:srgbClr val="006DC7"/>
          </a:solidFill>
          <a:ln/>
        </p:spPr>
      </p:sp>
      <p:sp>
        <p:nvSpPr>
          <p:cNvPr id="5" name="Shape 3"/>
          <p:cNvSpPr/>
          <p:nvPr/>
        </p:nvSpPr>
        <p:spPr>
          <a:xfrm>
            <a:off x="1341425" y="5257800"/>
            <a:ext cx="508406" cy="38405"/>
          </a:xfrm>
          <a:prstGeom prst="roundRect">
            <a:avLst>
              <a:gd name="adj" fmla="val 50000"/>
            </a:avLst>
          </a:prstGeom>
          <a:solidFill>
            <a:srgbClr val="162FB4"/>
          </a:solidFill>
          <a:ln/>
        </p:spPr>
      </p:sp>
      <p:sp>
        <p:nvSpPr>
          <p:cNvPr id="6" name="Shape 4"/>
          <p:cNvSpPr/>
          <p:nvPr/>
        </p:nvSpPr>
        <p:spPr>
          <a:xfrm>
            <a:off x="1951330" y="5257800"/>
            <a:ext cx="508406" cy="38405"/>
          </a:xfrm>
          <a:prstGeom prst="roundRect">
            <a:avLst>
              <a:gd name="adj" fmla="val 50000"/>
            </a:avLst>
          </a:prstGeom>
          <a:solidFill>
            <a:srgbClr val="8212C4"/>
          </a:solidFill>
          <a:ln/>
        </p:spPr>
      </p:sp>
      <p:pic>
        <p:nvPicPr>
          <p:cNvPr id="7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10725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100" kern="0" dirty="0">
                <a:solidFill>
                  <a:srgbClr val="5B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PATHWAY TO AI-NATIVE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50876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maturity curve, not a checklist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2145182" cy="2497112"/>
          </a:xfrm>
          <a:prstGeom prst="rect">
            <a:avLst/>
          </a:prstGeom>
          <a:solidFill>
            <a:srgbClr val="E4EEF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423160"/>
            <a:ext cx="17794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50" kern="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2679192"/>
            <a:ext cx="1779422" cy="249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AI-Aware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001975"/>
            <a:ext cx="1779422" cy="722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 of AI, but with little direction or only untracked trial efforts.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861283"/>
            <a:ext cx="1779422" cy="601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B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consistent adoption; needs WWT guidance to define a path forward.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76702" y="2194560"/>
            <a:ext cx="2145182" cy="2497112"/>
          </a:xfrm>
          <a:prstGeom prst="rect">
            <a:avLst/>
          </a:prstGeom>
          <a:solidFill>
            <a:srgbClr val="99CFF7"/>
          </a:solidFill>
          <a:ln/>
        </p:spPr>
      </p:sp>
      <p:sp>
        <p:nvSpPr>
          <p:cNvPr id="10" name="Text 8"/>
          <p:cNvSpPr/>
          <p:nvPr/>
        </p:nvSpPr>
        <p:spPr>
          <a:xfrm>
            <a:off x="3059582" y="2423160"/>
            <a:ext cx="17794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50" kern="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59582" y="2679192"/>
            <a:ext cx="1779422" cy="249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59582" y="3001975"/>
            <a:ext cx="1779422" cy="722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Engineers use AI coding tools inside their existing workflow.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59582" y="3861283"/>
            <a:ext cx="1779422" cy="601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does the work; AI is a suggestion engine.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1885" y="2194560"/>
            <a:ext cx="2145182" cy="2497112"/>
          </a:xfrm>
          <a:prstGeom prst="rect">
            <a:avLst/>
          </a:prstGeom>
          <a:solidFill>
            <a:srgbClr val="006DC7"/>
          </a:solidFill>
          <a:ln/>
        </p:spPr>
      </p:sp>
      <p:sp>
        <p:nvSpPr>
          <p:cNvPr id="15" name="Text 13"/>
          <p:cNvSpPr/>
          <p:nvPr/>
        </p:nvSpPr>
        <p:spPr>
          <a:xfrm>
            <a:off x="5204765" y="2423160"/>
            <a:ext cx="17794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04765" y="2679192"/>
            <a:ext cx="1779422" cy="249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AI-Integrated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04765" y="3001975"/>
            <a:ext cx="1779422" cy="722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tooling is formally adopted and wired into standard workflows.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04765" y="3861283"/>
            <a:ext cx="1779422" cy="601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a standard part of the toolchain; humans still direct each task.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167067" y="2194560"/>
            <a:ext cx="2145182" cy="2497112"/>
          </a:xfrm>
          <a:prstGeom prst="rect">
            <a:avLst/>
          </a:prstGeom>
          <a:solidFill>
            <a:srgbClr val="162FB4"/>
          </a:solidFill>
          <a:ln/>
        </p:spPr>
      </p:sp>
      <p:sp>
        <p:nvSpPr>
          <p:cNvPr id="20" name="Text 18"/>
          <p:cNvSpPr/>
          <p:nvPr/>
        </p:nvSpPr>
        <p:spPr>
          <a:xfrm>
            <a:off x="7349947" y="2423160"/>
            <a:ext cx="17794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49947" y="2679192"/>
            <a:ext cx="1779422" cy="249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Augmented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49947" y="3001975"/>
            <a:ext cx="1779422" cy="722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agents take on multi-step tasks end-to-end.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49947" y="3861283"/>
            <a:ext cx="1779422" cy="601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execute multi-step work; humans supervise and hold quality/security gates.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312250" y="2194560"/>
            <a:ext cx="2145182" cy="2497112"/>
          </a:xfrm>
          <a:prstGeom prst="rect">
            <a:avLst/>
          </a:prstGeom>
          <a:solidFill>
            <a:srgbClr val="8212C4"/>
          </a:solidFill>
          <a:ln/>
        </p:spPr>
      </p:sp>
      <p:sp>
        <p:nvSpPr>
          <p:cNvPr id="25" name="Text 23"/>
          <p:cNvSpPr/>
          <p:nvPr/>
        </p:nvSpPr>
        <p:spPr>
          <a:xfrm>
            <a:off x="9495130" y="2423160"/>
            <a:ext cx="17794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495130" y="2679192"/>
            <a:ext cx="1779422" cy="249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495130" y="3001975"/>
            <a:ext cx="1779422" cy="722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the primary producer across the full SDLC.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495130" y="3861283"/>
            <a:ext cx="1779422" cy="601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Humans set intent and verify outcomes; AI (multi-agent) produces.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" y="4965992"/>
            <a:ext cx="10058400" cy="886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5B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organizations sit somewhere on this curve. A team can be at any stage, whatever SDLC method it runs.</a:t>
            </a:r>
            <a:endParaRPr lang="en-US" sz="1600" dirty="0"/>
          </a:p>
        </p:txBody>
      </p:sp>
      <p:pic>
        <p:nvPicPr>
          <p:cNvPr id="30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today's labs sit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00000000-0000-4000-8000-000000000004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72591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559052"/>
                <a:gridCol w="1559052"/>
                <a:gridCol w="1559052"/>
                <a:gridCol w="1559052"/>
                <a:gridCol w="1559052"/>
                <a:gridCol w="155905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64008" marB="64008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64008" marB="64008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Req. &amp; Design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64008" marB="64008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64008" marB="64008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64008" marB="64008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Secure &amp; Release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64008" marB="64008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64008" marB="64008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AI-Assisted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helps draft a doc a human owns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summarizes and sketches options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code completion in the editor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generates test cases on request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flags common vulnerabilities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helps diagnose incidents from logs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AI-Integrated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is standard for scoping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Tools generate design options each review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codegen is wired in and expected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generation runs in CI per PR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 scan is a release gate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monitoring and alerting is standard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41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Agent Augmented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drafts and scores plans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drafts designs; architects approve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Agents submit features; engineers merge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writes, runs and triages tests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reviews security; humans hold the gate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triages incidents; engineers approve fixes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AI-Native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prioritizes; human approves intent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Agents turn intent into design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Agents build in parallel; humans verify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Agents test and self-correct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Agents own compliance and deploys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Agents monitor and tune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extension 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00000000-0000-4000-8000-000000000004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725912" cy="914400"/>
        </p:xfrm>
        <a:graphic>
          <a:graphicData uri="http://schemas.openxmlformats.org/drawingml/2006/table">
            <a:tbl>
              <a:tblPr/>
              <a:tblGrid>
                <a:gridCol w="3575304"/>
                <a:gridCol w="3575304"/>
                <a:gridCol w="3575304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Extension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73152" marB="731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it for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73152" marB="731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costs in context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73152" marB="731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CLAUDE.md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Rules and commands Claude needs in every session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Loads in full on every request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 (and slash command)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Knowledge or a workflow Claude needs sometimes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 every turn, body only when used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Subagent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 in its own context that returns a summary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Its own context, not yours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Hook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 action that must happen at an event, every time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Nothing, unless it returns output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MCP server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Tools and data from an external service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 names at session start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Plugin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package of the above, shared through a marketplace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its parts cost, in every session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right one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1645920"/>
            <a:ext cx="10725912" cy="3105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Prettier on every file Claude edits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build and test commands for this repo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release checklist, run on Fridays, only when we ask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every caller of an old function across 300 files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and update tickets in our issue tracker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five repos the same review and test skills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 of a skill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035040" y="1828800"/>
            <a:ext cx="18288" cy="384048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" name="Text 4"/>
          <p:cNvSpPr/>
          <p:nvPr/>
        </p:nvSpPr>
        <p:spPr>
          <a:xfrm>
            <a:off x="731520" y="1645920"/>
            <a:ext cx="5029200" cy="2908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2600" b="1" dirty="0">
                <a:solidFill>
                  <a:srgbClr val="1C0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skill is a folder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SKILL.md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front matter, then the steps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references/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detail Claude opens when it needs it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</a:t>
            </a:r>
            <a:pPr algn="l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exact steps Claude runs, not reads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6430975" y="1645920"/>
            <a:ext cx="5029200" cy="2106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2600" b="1" dirty="0">
                <a:solidFill>
                  <a:srgbClr val="1C0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loads, and when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turn: the name and description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skill is used: the body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step needs it: a reference file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731520" y="58978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5B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description says what the skill does and when to use it.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skills live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00000000-0000-4000-8000-000000000004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725912" cy="914400"/>
        </p:xfrm>
        <a:graphic>
          <a:graphicData uri="http://schemas.openxmlformats.org/drawingml/2006/table">
            <a:tbl>
              <a:tblPr/>
              <a:tblGrid>
                <a:gridCol w="2681478"/>
                <a:gridCol w="2681478"/>
                <a:gridCol w="2681478"/>
                <a:gridCol w="2681478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Where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73152" marB="731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Path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73152" marB="731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Who gets it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73152" marB="731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Runs as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73152" marB="731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~/.claude/skills/&lt;name&gt;/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You, in every project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/skill-name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.claude/skills/&lt;name&gt;/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Everyone who clones the repo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/skill-name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Nested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apps/api/.claude/skills/&lt;name&gt;/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Loads when Claude works in that folder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/skill-name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Plugin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&lt;plugin&gt;/skills/&lt;name&gt;/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Everyone who installs the plugin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/plugin-name:skill-name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Marketplace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.claude-plugin/marketplace.json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catalog: add it once, install by name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plugin@marketplace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1: Your first skill: writing tests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1645920"/>
            <a:ext cx="10725912" cy="3105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workshop/labs/01-lab-1.md and run the reset script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.claude/skills/writing-tests/SKILL.md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your own words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description that says what it does and when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checklist of boundaries: equal, adjacent, empty, one past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for tests in a new session, without naming the skill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the checklist find what the existing tests missed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Demo: the shape of a skill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31520" y="1737360"/>
            <a:ext cx="10725912" cy="4023360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005840" y="1920240"/>
            <a:ext cx="101772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writing-tests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&lt;what it does&gt;. Use when &lt;the requests that should load it&gt;.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Writing tests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Read the code under test ...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Put the tests in ...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Write table-driven cases ...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Always cover the boundaries ...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Run the tests. If a case fails ...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1 checkpoint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1645920"/>
            <a:ext cx="10725912" cy="2587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test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passes in every package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apps/api/test/booking-rules.test.ts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exists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-1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shows your commit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✓ and the name of the bug your skill found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Stuck? Post SOS and the step number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2: A code review skill, with a nested skill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1645920"/>
            <a:ext cx="10725912" cy="2587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workshop/labs/02-lab-2.md and run the reset script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reviewing-code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 short SKILL.md, a checklist and a script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api-conventions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 nested skill that loads only for 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apps/api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the API in a new session, without naming the skill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Reproduce what the review finds, then fix it with a test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Demo: one skill in three files, plus a nested one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31520" y="1737360"/>
            <a:ext cx="10725912" cy="4023360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005840" y="1920240"/>
            <a:ext cx="101772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.claude/skills/reviewing-code/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SKILL.md               the steps, about 10 to 15 lines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references/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checklist.md       opened at the checklist step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scripts/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review-context.sh  run, not read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apps/api/.claude/skills/api-conventions/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SKILL.md               loads when Claude works in apps/api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2 checkpoint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1645920"/>
            <a:ext cx="10725912" cy="2587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 booking 1 as member 2: you get 403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1 is still in the list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-1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shows your commit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✓ in the chat when you're there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Stuck? Post SOS and the step number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3: Release notes, then tune the trigger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1645920"/>
            <a:ext cx="10725912" cy="3105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workshop/labs/03-lab-3.md and run the reset script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writing-release-notes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the release tool groups, Claude writes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the draft with the git log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what you find in the tool, with tests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when it loads: six prompts, each in a fresh session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who starts it: Claude, or only you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Demo: the trigger table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graphicFrame>
        <p:nvGraphicFramePr>
          <p:cNvPr id="17" name="Table 0"/>
          <p:cNvGraphicFramePr>
            <a:graphicFrameLocks noGrp="1"/>
          </p:cNvGraphicFramePr>
          <p:nvPr>
            <p:extLst>
              <p:ext uri="{00000000-0000-4000-8000-000000000004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725912" cy="914400"/>
        </p:xfrm>
        <a:graphic>
          <a:graphicData uri="http://schemas.openxmlformats.org/drawingml/2006/table">
            <a:tbl>
              <a:tblPr/>
              <a:tblGrid>
                <a:gridCol w="5362956"/>
                <a:gridCol w="5362956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Prompt, shortened (paste it from step 4)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73152" marB="731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Should it load?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73152" marB="731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S1: Draft the release notes for the next Roombook release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S2: What's new for API users since the last release?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S3: Our clients want to know what changed since 0.2.0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N1: What changed in the last commit?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N2: How does the release tool decide which group a commit goes in?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N3: Suggest a commit message for my change to the release tool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3 checkpoint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1645920"/>
            <a:ext cx="10725912" cy="2587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changelog --silent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starts with Breaking changes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Breaking changes section lists the X-Member-Id commit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row of your trigger table is ticked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✓ and your score, for example ✓ 6/6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Stuck? Post SOS and the step number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4: Package it as a plugin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1645920"/>
            <a:ext cx="10725912" cy="3105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workshop/labs/04-lab-4.md and run the reset script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plugin.json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then move the three skills into the plugin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it in a marketplace called 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roombook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it from the desktop app: Customize, Plugins, Upload plugin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where each install route records the plugin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</a:t>
            </a:r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/bookings-toolkit:reviewing-code</a:t>
            </a:r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 new session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Demo: install from the desktop app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035040" y="1828800"/>
            <a:ext cx="18288" cy="384048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" name="Text 4"/>
          <p:cNvSpPr/>
          <p:nvPr/>
        </p:nvSpPr>
        <p:spPr>
          <a:xfrm>
            <a:off x="731520" y="1645920"/>
            <a:ext cx="5029200" cy="2908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2600" b="1" dirty="0">
                <a:solidFill>
                  <a:srgbClr val="1C0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A, hands-on (step 4)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Zip the plugin, then upload it: Customize, Plugins, Upload plugin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Code tab session, then type 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lives in your claude.ai account, not the repo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6430975" y="1645920"/>
            <a:ext cx="5029200" cy="3831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2600" b="1" dirty="0">
                <a:solidFill>
                  <a:srgbClr val="1C0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B to D, for reference (step 5)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B1: a plugin folder in 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.claude/skills/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B2: write 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.claude/settings.json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by hand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and D: add the marketplace, then install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731520" y="58978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5B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does route A, or B1 if A doesn't load in the Code tab. C and D run in the Code tab's terminal.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4 checkpoint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1645920"/>
            <a:ext cx="10725912" cy="2587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/bookings-toolkit:reviewing-code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ran in a new Code tab session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say where your route recorded the plugin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✓ and your route, for example ✓ A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Stuck? Post SOS and the step number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leave, run the clean-up at the end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built, and what comes next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graphicFrame>
        <p:nvGraphicFramePr>
          <p:cNvPr id="22" name="Table 0"/>
          <p:cNvGraphicFramePr>
            <a:graphicFrameLocks noGrp="1"/>
          </p:cNvGraphicFramePr>
          <p:nvPr>
            <p:extLst>
              <p:ext uri="{00000000-0000-4000-8000-000000000004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725912" cy="914400"/>
        </p:xfrm>
        <a:graphic>
          <a:graphicData uri="http://schemas.openxmlformats.org/drawingml/2006/table">
            <a:tbl>
              <a:tblPr/>
              <a:tblGrid>
                <a:gridCol w="5362956"/>
                <a:gridCol w="5362956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73152" marB="731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to do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73152" marB="731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Next: share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Host the marketplace in git, so teammates add it once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Next: measure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Compare runs with skill-creator or 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claude plugin eval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Next: enforce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Move rules that must always hold into hooks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Clean up: route 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Customize, on the Plugins tab, remove bookings-toolkit; then 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rm bookings-toolkit.zip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92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Clean up: B1 or B2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B1: 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rm -r .claude/skills/bookings-toolkit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 B2: 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rm .claude/settings.json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(and uninstall in Manage plugins if a session picked it up)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6892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Clean up: C and 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claude plugin uninstall bookings-toolkit@roombook --scope project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, then 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claude plugin marketplace remove roombook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, then 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rm .claude/settings.json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5669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65760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for building with us today. Make a new world happen.</a:t>
            </a:r>
            <a:endParaRPr lang="en-US" sz="2200" dirty="0"/>
          </a:p>
        </p:txBody>
      </p:sp>
      <p:pic>
        <p:nvPicPr>
          <p:cNvPr id="4" name="Image 0" descr="World Wide Technolog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778606"/>
            <a:ext cx="2194560" cy="62219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0000000-0000-4000-8000-000000000006}">
      <thm15:themeFamily xmlns:thm15="http://schemas.microsoft.com/office/thememl/2012/main" name="Office Theme" id="{00000000-0000-4000-8000-000000000007}" vid="{00000000-0000-4000-8000-0000000000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World Wide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Code, Hands On</dc:title>
  <dc:subject>PptxGenJS Presentation</dc:subject>
  <dc:creator>WWT</dc:creator>
  <cp:lastModifiedBy>WWT</cp:lastModifiedBy>
  <cp:revision>1</cp:revision>
  <dcterms:created xsi:type="dcterms:W3CDTF">2026-10-01T00:00:00Z</dcterms:created>
  <dcterms:modified xsi:type="dcterms:W3CDTF">2026-10-01T00:00:00Z</dcterms:modified>
</cp:coreProperties>
</file>